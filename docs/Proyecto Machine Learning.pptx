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bc65bf5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bc65bf5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bc65bf50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bc65bf50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bc65bf50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bc65bf50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c65bf508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bc65bf508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bc65bf50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bc65bf50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bc65bf50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bc65bf50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c65bf50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bc65bf50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bc65bf508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bc65bf508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bc65bf508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bc65bf508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bc65bf50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bc65bf50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bc65bf508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bc65bf50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bc65bf508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bc65bf50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bc65bf50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bc65bf50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bc65bf508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bc65bf508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bc65bf508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bc65bf508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bc65bf508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bc65bf508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700" y="1353125"/>
            <a:ext cx="8520600" cy="1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Predicción del éxito comercial en videojuegos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283150" y="3993550"/>
            <a:ext cx="3470700" cy="4146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Carlos Pascual Peláez - DATA SCIENCE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625" y="3288925"/>
            <a:ext cx="1467599" cy="146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>
            <p:ph idx="1" type="subTitle"/>
          </p:nvPr>
        </p:nvSpPr>
        <p:spPr>
          <a:xfrm>
            <a:off x="5283150" y="4494325"/>
            <a:ext cx="1467600" cy="4146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0" y="0"/>
            <a:ext cx="7430400" cy="6909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y contextualización del problema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642200" y="1794388"/>
            <a:ext cx="2860500" cy="6276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Empresa importante del sector de los videojuegos</a:t>
            </a:r>
            <a:r>
              <a:rPr lang="es"/>
              <a:t> 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4746175" y="1762750"/>
            <a:ext cx="3560400" cy="6909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>
                <a:latin typeface="Arial"/>
                <a:ea typeface="Arial"/>
                <a:cs typeface="Arial"/>
                <a:sym typeface="Arial"/>
              </a:rPr>
              <a:t>Predecir las mejores condiciones para el lanzamiento de un juego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2371350" y="3914850"/>
            <a:ext cx="3436200" cy="5163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latin typeface="Arial"/>
                <a:ea typeface="Arial"/>
                <a:cs typeface="Arial"/>
                <a:sym typeface="Arial"/>
              </a:rPr>
              <a:t>Modelo de Machine Learning 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3864825" y="1975750"/>
            <a:ext cx="614700" cy="26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/>
          <p:nvPr/>
        </p:nvSpPr>
        <p:spPr>
          <a:xfrm rot="1254479">
            <a:off x="4948916" y="2782733"/>
            <a:ext cx="457312" cy="80303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0" y="0"/>
            <a:ext cx="7553400" cy="6909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y contextualización del problema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93875" y="2664025"/>
            <a:ext cx="1465200" cy="4302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Fuentes de datos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3187275" y="2664025"/>
            <a:ext cx="1650900" cy="4302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 de Kaggle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182275" y="1924913"/>
            <a:ext cx="1887900" cy="4302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Ventas de videojuegos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6300775" y="3403125"/>
            <a:ext cx="1650900" cy="4302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Críticas Metacritic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810475" y="2590373"/>
            <a:ext cx="631500" cy="577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5"/>
          <p:cNvSpPr/>
          <p:nvPr/>
        </p:nvSpPr>
        <p:spPr>
          <a:xfrm rot="-1933659">
            <a:off x="5223329" y="2491795"/>
            <a:ext cx="573802" cy="21115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5"/>
          <p:cNvSpPr/>
          <p:nvPr/>
        </p:nvSpPr>
        <p:spPr>
          <a:xfrm rot="1728963">
            <a:off x="5223305" y="3304491"/>
            <a:ext cx="573860" cy="21119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5"/>
          <p:cNvSpPr/>
          <p:nvPr/>
        </p:nvSpPr>
        <p:spPr>
          <a:xfrm rot="3594">
            <a:off x="2228329" y="2773532"/>
            <a:ext cx="573900" cy="21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type="title"/>
          </p:nvPr>
        </p:nvSpPr>
        <p:spPr>
          <a:xfrm>
            <a:off x="0" y="0"/>
            <a:ext cx="7038900" cy="7209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 del modelo y aplicaciones prácticas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059500" y="1917675"/>
            <a:ext cx="1944600" cy="4779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Maximizar ganancias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5322225" y="1761975"/>
            <a:ext cx="24423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5322225" y="2260875"/>
            <a:ext cx="2088000" cy="5808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 margen de la calidad del producto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2879925" y="3546100"/>
            <a:ext cx="2442300" cy="5808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Basándonos en características como género, plataformas…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16"/>
          <p:cNvCxnSpPr>
            <a:stCxn id="166" idx="2"/>
            <a:endCxn id="169" idx="1"/>
          </p:cNvCxnSpPr>
          <p:nvPr/>
        </p:nvCxnSpPr>
        <p:spPr>
          <a:xfrm flipH="1" rot="-5400000">
            <a:off x="1735400" y="2691975"/>
            <a:ext cx="1440900" cy="84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6"/>
          <p:cNvCxnSpPr>
            <a:stCxn id="166" idx="3"/>
            <a:endCxn id="168" idx="1"/>
          </p:cNvCxnSpPr>
          <p:nvPr/>
        </p:nvCxnSpPr>
        <p:spPr>
          <a:xfrm>
            <a:off x="3004100" y="2156625"/>
            <a:ext cx="2318100" cy="3948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0" y="0"/>
            <a:ext cx="4572000" cy="780300"/>
          </a:xfrm>
          <a:prstGeom prst="rect">
            <a:avLst/>
          </a:prstGeom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y desarrollo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58250" y="1480325"/>
            <a:ext cx="2499600" cy="465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Tratamiento de missing values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56350" y="3176250"/>
            <a:ext cx="2303400" cy="465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Distribuciones del target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4811525" y="1800950"/>
            <a:ext cx="2557500" cy="4956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Análisis univariante - bivariante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987775" y="3529425"/>
            <a:ext cx="1694700" cy="465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Feature engineering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926275" y="2760275"/>
            <a:ext cx="92100" cy="81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2" name="Google Shape;182;p17"/>
          <p:cNvCxnSpPr>
            <a:stCxn id="181" idx="1"/>
            <a:endCxn id="177" idx="3"/>
          </p:cNvCxnSpPr>
          <p:nvPr/>
        </p:nvCxnSpPr>
        <p:spPr>
          <a:xfrm flipH="1" rot="5400000">
            <a:off x="3019213" y="1851719"/>
            <a:ext cx="1059300" cy="78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7"/>
          <p:cNvCxnSpPr>
            <a:endCxn id="179" idx="1"/>
          </p:cNvCxnSpPr>
          <p:nvPr/>
        </p:nvCxnSpPr>
        <p:spPr>
          <a:xfrm flipH="1" rot="10800000">
            <a:off x="4004825" y="2048750"/>
            <a:ext cx="806700" cy="723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7"/>
          <p:cNvCxnSpPr>
            <a:endCxn id="178" idx="3"/>
          </p:cNvCxnSpPr>
          <p:nvPr/>
        </p:nvCxnSpPr>
        <p:spPr>
          <a:xfrm flipH="1">
            <a:off x="3059750" y="2801100"/>
            <a:ext cx="866400" cy="607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7"/>
          <p:cNvCxnSpPr>
            <a:endCxn id="180" idx="1"/>
          </p:cNvCxnSpPr>
          <p:nvPr/>
        </p:nvCxnSpPr>
        <p:spPr>
          <a:xfrm>
            <a:off x="4004975" y="2830275"/>
            <a:ext cx="982800" cy="931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50" y="1396100"/>
            <a:ext cx="42838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000" y="1396095"/>
            <a:ext cx="4572001" cy="365760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241825" y="970150"/>
            <a:ext cx="1547100" cy="3360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Ventas por género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5961400" y="970150"/>
            <a:ext cx="1909500" cy="3360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Ventas por plataforma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0" y="0"/>
            <a:ext cx="55143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EDA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578200"/>
            <a:ext cx="76200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>
            <p:ph type="title"/>
          </p:nvPr>
        </p:nvSpPr>
        <p:spPr>
          <a:xfrm>
            <a:off x="0" y="0"/>
            <a:ext cx="55143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EDA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425" y="1572125"/>
            <a:ext cx="4267201" cy="28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850" y="822500"/>
            <a:ext cx="4009830" cy="41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>
            <p:ph type="title"/>
          </p:nvPr>
        </p:nvSpPr>
        <p:spPr>
          <a:xfrm>
            <a:off x="0" y="0"/>
            <a:ext cx="55143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EDA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00" y="1295125"/>
            <a:ext cx="4319926" cy="329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7650" y="1295125"/>
            <a:ext cx="3976634" cy="32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1102013" y="813463"/>
            <a:ext cx="2315700" cy="3588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Ventas según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Critic Score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638100" y="813463"/>
            <a:ext cx="2315700" cy="3588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Ventas según Critic Count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0" y="0"/>
            <a:ext cx="5514300" cy="629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EDA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050" y="1068400"/>
            <a:ext cx="75819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>
            <p:ph type="title"/>
          </p:nvPr>
        </p:nvSpPr>
        <p:spPr>
          <a:xfrm>
            <a:off x="0" y="0"/>
            <a:ext cx="55143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EDA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1826625"/>
            <a:ext cx="763905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3444900" y="1284850"/>
            <a:ext cx="22542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Transformación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logarítmica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23"/>
          <p:cNvSpPr txBox="1"/>
          <p:nvPr>
            <p:ph type="title"/>
          </p:nvPr>
        </p:nvSpPr>
        <p:spPr>
          <a:xfrm>
            <a:off x="0" y="0"/>
            <a:ext cx="55143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EDA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0" y="0"/>
            <a:ext cx="75432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Metodología y desarrollo. Feature Engineering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370925" y="1350125"/>
            <a:ext cx="16188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Categorización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3175750" y="1041450"/>
            <a:ext cx="17034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Año de lanzamiento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3697450" y="1802100"/>
            <a:ext cx="660000" cy="4290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Editor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5755175" y="1499950"/>
            <a:ext cx="1301100" cy="842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Rangos de publicación de videojuegos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370925" y="4075850"/>
            <a:ext cx="1618800" cy="5778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Eliminación de columnas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2873450" y="3831975"/>
            <a:ext cx="14217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Alta cardinalidad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2873450" y="4404975"/>
            <a:ext cx="12168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Colinealidad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5883175" y="960700"/>
            <a:ext cx="10143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Décadas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370925" y="2747988"/>
            <a:ext cx="1301100" cy="5778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Modelo No Supervisado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2583125" y="2801238"/>
            <a:ext cx="12168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 - Means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784325" y="2801238"/>
            <a:ext cx="11349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Clustering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7225475" y="2801250"/>
            <a:ext cx="1506300" cy="4713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One Hot Encoding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4"/>
          <p:cNvSpPr/>
          <p:nvPr/>
        </p:nvSpPr>
        <p:spPr>
          <a:xfrm rot="5400000">
            <a:off x="7288950" y="1541400"/>
            <a:ext cx="860700" cy="803400"/>
          </a:xfrm>
          <a:prstGeom prst="bentArrow">
            <a:avLst>
              <a:gd fmla="val 21372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6172900" y="2898600"/>
            <a:ext cx="798900" cy="27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4"/>
          <p:cNvSpPr/>
          <p:nvPr/>
        </p:nvSpPr>
        <p:spPr>
          <a:xfrm rot="-986152">
            <a:off x="2311834" y="1295138"/>
            <a:ext cx="418814" cy="18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4"/>
          <p:cNvSpPr/>
          <p:nvPr/>
        </p:nvSpPr>
        <p:spPr>
          <a:xfrm rot="629258">
            <a:off x="2306388" y="1864498"/>
            <a:ext cx="815829" cy="2087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142377" y="1103535"/>
            <a:ext cx="418800" cy="18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02675" y="1828475"/>
            <a:ext cx="528000" cy="18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1857634" y="2934241"/>
            <a:ext cx="418800" cy="18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4015246" y="2938779"/>
            <a:ext cx="418800" cy="18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4"/>
          <p:cNvSpPr/>
          <p:nvPr/>
        </p:nvSpPr>
        <p:spPr>
          <a:xfrm rot="-986152">
            <a:off x="2146609" y="4062338"/>
            <a:ext cx="418814" cy="1854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4"/>
          <p:cNvSpPr/>
          <p:nvPr/>
        </p:nvSpPr>
        <p:spPr>
          <a:xfrm rot="825452">
            <a:off x="2146652" y="4547829"/>
            <a:ext cx="418815" cy="1856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/>
        </p:nvSpPr>
        <p:spPr>
          <a:xfrm>
            <a:off x="432375" y="1500025"/>
            <a:ext cx="14550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Regresión Lineal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432375" y="2128863"/>
            <a:ext cx="14550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893475" y="2757700"/>
            <a:ext cx="5328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SVR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852525" y="3391675"/>
            <a:ext cx="6147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KNN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621975" y="4025650"/>
            <a:ext cx="10758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XGBoosting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2895225" y="2507925"/>
            <a:ext cx="1317900" cy="4701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GridSearchCV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4981725" y="2522625"/>
            <a:ext cx="1075800" cy="4407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XGBoosting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8" name="Google Shape;268;p25"/>
          <p:cNvCxnSpPr>
            <a:stCxn id="261" idx="3"/>
            <a:endCxn id="266" idx="1"/>
          </p:cNvCxnSpPr>
          <p:nvPr/>
        </p:nvCxnSpPr>
        <p:spPr>
          <a:xfrm>
            <a:off x="1887375" y="1720375"/>
            <a:ext cx="1008000" cy="10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5"/>
          <p:cNvCxnSpPr>
            <a:stCxn id="262" idx="3"/>
            <a:endCxn id="266" idx="1"/>
          </p:cNvCxnSpPr>
          <p:nvPr/>
        </p:nvCxnSpPr>
        <p:spPr>
          <a:xfrm>
            <a:off x="1887375" y="2349213"/>
            <a:ext cx="10080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5"/>
          <p:cNvCxnSpPr>
            <a:stCxn id="263" idx="3"/>
            <a:endCxn id="266" idx="1"/>
          </p:cNvCxnSpPr>
          <p:nvPr/>
        </p:nvCxnSpPr>
        <p:spPr>
          <a:xfrm flipH="1" rot="10800000">
            <a:off x="1426275" y="2742850"/>
            <a:ext cx="1469100" cy="2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5"/>
          <p:cNvCxnSpPr>
            <a:stCxn id="264" idx="3"/>
            <a:endCxn id="266" idx="1"/>
          </p:cNvCxnSpPr>
          <p:nvPr/>
        </p:nvCxnSpPr>
        <p:spPr>
          <a:xfrm flipH="1" rot="10800000">
            <a:off x="1467225" y="2742925"/>
            <a:ext cx="1428000" cy="8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5"/>
          <p:cNvCxnSpPr>
            <a:stCxn id="265" idx="3"/>
            <a:endCxn id="266" idx="1"/>
          </p:cNvCxnSpPr>
          <p:nvPr/>
        </p:nvCxnSpPr>
        <p:spPr>
          <a:xfrm flipH="1" rot="10800000">
            <a:off x="1697775" y="2743000"/>
            <a:ext cx="1197600" cy="150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5"/>
          <p:cNvSpPr txBox="1"/>
          <p:nvPr/>
        </p:nvSpPr>
        <p:spPr>
          <a:xfrm>
            <a:off x="7266500" y="2586925"/>
            <a:ext cx="1428000" cy="20502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MAE: 0.537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MAPE: 1.5 %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MSE: 6.553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RMSE: 2.56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R2: 0.252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25"/>
          <p:cNvSpPr txBox="1"/>
          <p:nvPr>
            <p:ph type="title"/>
          </p:nvPr>
        </p:nvSpPr>
        <p:spPr>
          <a:xfrm>
            <a:off x="0" y="0"/>
            <a:ext cx="62727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Resultados, métricas y visualización</a:t>
            </a:r>
            <a:endParaRPr/>
          </a:p>
        </p:txBody>
      </p:sp>
      <p:cxnSp>
        <p:nvCxnSpPr>
          <p:cNvPr id="275" name="Google Shape;275;p25"/>
          <p:cNvCxnSpPr>
            <a:stCxn id="266" idx="3"/>
            <a:endCxn id="267" idx="1"/>
          </p:cNvCxnSpPr>
          <p:nvPr/>
        </p:nvCxnSpPr>
        <p:spPr>
          <a:xfrm>
            <a:off x="4213125" y="2742975"/>
            <a:ext cx="76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25"/>
          <p:cNvSpPr/>
          <p:nvPr/>
        </p:nvSpPr>
        <p:spPr>
          <a:xfrm>
            <a:off x="5227575" y="3228100"/>
            <a:ext cx="584100" cy="5328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4827975" y="3959050"/>
            <a:ext cx="1383300" cy="3939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Standard Scaler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4740975" y="1188625"/>
            <a:ext cx="1557300" cy="7521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Max depth: 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Learning rate: 0.05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n_estimators: 200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25" y="752100"/>
            <a:ext cx="5464798" cy="408659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6508275" y="1899625"/>
            <a:ext cx="1721400" cy="15984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modelo generaliza bien para los videojuegos con pocas ventas, pero no es capaz de captar los outliers a partir de los 20 millones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26"/>
          <p:cNvSpPr txBox="1"/>
          <p:nvPr>
            <p:ph type="title"/>
          </p:nvPr>
        </p:nvSpPr>
        <p:spPr>
          <a:xfrm>
            <a:off x="0" y="0"/>
            <a:ext cx="62727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Resultados, métricas y visualización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0" y="0"/>
            <a:ext cx="62727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Resultados, métricas y visualización</a:t>
            </a:r>
            <a:endParaRPr/>
          </a:p>
        </p:txBody>
      </p:sp>
      <p:pic>
        <p:nvPicPr>
          <p:cNvPr id="291" name="Google Shape;2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00" y="812300"/>
            <a:ext cx="6561583" cy="40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6979575" y="1946700"/>
            <a:ext cx="1803300" cy="12501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residuo se dispersa conforme se aumenta la predicción de ventas, aunque con valores cercanos a 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0" y="0"/>
            <a:ext cx="6272700" cy="752100"/>
          </a:xfrm>
          <a:prstGeom prst="rect">
            <a:avLst/>
          </a:prstGeom>
          <a:ln cap="flat" cmpd="sng" w="38100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Limitaciones y escalabilidad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442625" y="1520500"/>
            <a:ext cx="4743900" cy="2059500"/>
          </a:xfrm>
          <a:prstGeom prst="rect">
            <a:avLst/>
          </a:prstGeom>
          <a:noFill/>
          <a:ln cap="flat" cmpd="sng" w="28575">
            <a:solidFill>
              <a:srgbClr val="CCF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Aumentar features para mejorar el entrenamiento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Transformar el problema en clasificación y comparar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Tratar outliers y reevaluar el modelo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Incorporar datos de redes sociales / viralidad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Implementación en Streamlit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425" y="2913950"/>
            <a:ext cx="1178300" cy="11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283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